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силуэт</c:v>
                </c:pt>
              </c:strCache>
            </c:strRef>
          </c:tx>
          <c:spPr>
            <a:solidFill>
              <a:srgbClr val="4C9BF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686F7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0.454</c:v>
                </c:pt>
                <c:pt idx="1">
                  <c:v>0.525</c:v>
                </c:pt>
                <c:pt idx="2">
                  <c:v>0.592</c:v>
                </c:pt>
                <c:pt idx="3">
                  <c:v>0.688</c:v>
                </c:pt>
                <c:pt idx="4">
                  <c:v>0.767</c:v>
                </c:pt>
                <c:pt idx="5">
                  <c:v>0.706</c:v>
                </c:pt>
                <c:pt idx="6">
                  <c:v>0.69</c:v>
                </c:pt>
                <c:pt idx="7">
                  <c:v>0.65</c:v>
                </c:pt>
                <c:pt idx="8">
                  <c:v>0.577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686F7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k – число кластеров (парковка)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силуэт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чистота</c:v>
                </c:pt>
              </c:strCache>
            </c:strRef>
          </c:tx>
          <c:spPr>
            <a:solidFill>
              <a:srgbClr val="969CA3"/>
            </a:solidFill>
            <a:ln w="25400" cap="flat">
              <a:solidFill>
                <a:srgbClr val="969C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69CA3"/>
              </a:solidFill>
              <a:ln w="9525" cap="flat">
                <a:solidFill>
                  <a:srgbClr val="969C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0.601</c:v>
                </c:pt>
                <c:pt idx="1">
                  <c:v>0.966</c:v>
                </c:pt>
                <c:pt idx="2">
                  <c:v>0.972</c:v>
                </c:pt>
                <c:pt idx="3">
                  <c:v>0.955</c:v>
                </c:pt>
                <c:pt idx="4">
                  <c:v>0.955</c:v>
                </c:pt>
                <c:pt idx="5">
                  <c:v>0.966</c:v>
                </c:pt>
                <c:pt idx="6">
                  <c:v>0.944</c:v>
                </c:pt>
                <c:pt idx="7">
                  <c:v>0.916</c:v>
                </c:pt>
                <c:pt idx="8">
                  <c:v>0.949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скорректированный индекс Рэнда</c:v>
                </c:pt>
              </c:strCache>
            </c:strRef>
          </c:tx>
          <c:spPr>
            <a:solidFill>
              <a:srgbClr val="4C9BFF"/>
            </a:solidFill>
            <a:ln w="25400" cap="flat">
              <a:solidFill>
                <a:srgbClr val="4C9B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4C9BFF"/>
              </a:solidFill>
              <a:ln w="9525" cap="flat">
                <a:solidFill>
                  <a:srgbClr val="4C9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0.389</c:v>
                </c:pt>
                <c:pt idx="1">
                  <c:v>0.897</c:v>
                </c:pt>
                <c:pt idx="2">
                  <c:v>0.761</c:v>
                </c:pt>
                <c:pt idx="3">
                  <c:v>0.655</c:v>
                </c:pt>
                <c:pt idx="4">
                  <c:v>0.532</c:v>
                </c:pt>
                <c:pt idx="5">
                  <c:v>0.497</c:v>
                </c:pt>
                <c:pt idx="6">
                  <c:v>0.508</c:v>
                </c:pt>
                <c:pt idx="7">
                  <c:v>0.441</c:v>
                </c:pt>
                <c:pt idx="8">
                  <c:v>0.375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k – число кластеров (Wine)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3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86F7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расстояние до 8-го соседа</c:v>
                </c:pt>
              </c:strCache>
            </c:strRef>
          </c:tx>
          <c:spPr>
            <a:solidFill>
              <a:srgbClr val="4C9BFF"/>
            </a:solidFill>
            <a:ln w="25400" cap="flat">
              <a:solidFill>
                <a:srgbClr val="4C9B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C9BFF"/>
              </a:solidFill>
              <a:ln w="9525" cap="flat">
                <a:solidFill>
                  <a:srgbClr val="4C9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  <c:pt idx="11">
                    <c:v>110</c:v>
                  </c:pt>
                  <c:pt idx="12">
                    <c:v>120</c:v>
                  </c:pt>
                  <c:pt idx="13">
                    <c:v>130</c:v>
                  </c:pt>
                  <c:pt idx="14">
                    <c:v>140</c:v>
                  </c:pt>
                  <c:pt idx="15">
                    <c:v>150</c:v>
                  </c:pt>
                  <c:pt idx="16">
                    <c:v>160</c:v>
                  </c:pt>
                  <c:pt idx="17">
                    <c:v>170</c:v>
                  </c:pt>
                  <c:pt idx="18">
                    <c:v>180</c:v>
                  </c:pt>
                  <c:pt idx="19">
                    <c:v>190</c:v>
                  </c:pt>
                  <c:pt idx="20">
                    <c:v>200</c:v>
                  </c:pt>
                  <c:pt idx="21">
                    <c:v>210</c:v>
                  </c:pt>
                  <c:pt idx="22">
                    <c:v>220</c:v>
                  </c:pt>
                  <c:pt idx="23">
                    <c:v>230</c:v>
                  </c:pt>
                  <c:pt idx="24">
                    <c:v>240</c:v>
                  </c:pt>
                  <c:pt idx="25">
                    <c:v>250</c:v>
                  </c:pt>
                  <c:pt idx="26">
                    <c:v>260</c:v>
                  </c:pt>
                  <c:pt idx="27">
                    <c:v>270</c:v>
                  </c:pt>
                  <c:pt idx="28">
                    <c:v>280</c:v>
                  </c:pt>
                  <c:pt idx="29">
                    <c:v>290</c:v>
                  </c:pt>
                  <c:pt idx="30">
                    <c:v>300</c:v>
                  </c:pt>
                  <c:pt idx="31">
                    <c:v>310</c:v>
                  </c:pt>
                  <c:pt idx="32">
                    <c:v>319</c:v>
                  </c:pt>
                </c:lvl>
              </c:multiLvlStrCache>
            </c:multiLvl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0.27</c:v>
                </c:pt>
                <c:pt idx="1">
                  <c:v>0.32</c:v>
                </c:pt>
                <c:pt idx="2">
                  <c:v>0.35</c:v>
                </c:pt>
                <c:pt idx="3">
                  <c:v>0.36</c:v>
                </c:pt>
                <c:pt idx="4">
                  <c:v>0.39</c:v>
                </c:pt>
                <c:pt idx="5">
                  <c:v>0.41</c:v>
                </c:pt>
                <c:pt idx="6">
                  <c:v>0.43</c:v>
                </c:pt>
                <c:pt idx="7">
                  <c:v>0.44</c:v>
                </c:pt>
                <c:pt idx="8">
                  <c:v>0.46</c:v>
                </c:pt>
                <c:pt idx="9">
                  <c:v>0.47</c:v>
                </c:pt>
                <c:pt idx="10">
                  <c:v>0.48</c:v>
                </c:pt>
                <c:pt idx="11">
                  <c:v>0.49</c:v>
                </c:pt>
                <c:pt idx="12">
                  <c:v>0.51</c:v>
                </c:pt>
                <c:pt idx="13">
                  <c:v>0.53</c:v>
                </c:pt>
                <c:pt idx="14">
                  <c:v>0.55</c:v>
                </c:pt>
                <c:pt idx="15">
                  <c:v>0.58</c:v>
                </c:pt>
                <c:pt idx="16">
                  <c:v>0.59</c:v>
                </c:pt>
                <c:pt idx="17">
                  <c:v>0.62</c:v>
                </c:pt>
                <c:pt idx="18">
                  <c:v>0.64</c:v>
                </c:pt>
                <c:pt idx="19">
                  <c:v>0.67</c:v>
                </c:pt>
                <c:pt idx="20">
                  <c:v>0.71</c:v>
                </c:pt>
                <c:pt idx="21">
                  <c:v>0.73</c:v>
                </c:pt>
                <c:pt idx="22">
                  <c:v>0.76</c:v>
                </c:pt>
                <c:pt idx="23">
                  <c:v>0.8</c:v>
                </c:pt>
                <c:pt idx="24">
                  <c:v>0.84</c:v>
                </c:pt>
                <c:pt idx="25">
                  <c:v>0.9</c:v>
                </c:pt>
                <c:pt idx="26">
                  <c:v>1.05</c:v>
                </c:pt>
                <c:pt idx="27">
                  <c:v>1.16</c:v>
                </c:pt>
                <c:pt idx="28">
                  <c:v>1.3</c:v>
                </c:pt>
                <c:pt idx="29">
                  <c:v>1.66</c:v>
                </c:pt>
                <c:pt idx="30">
                  <c:v>2.2</c:v>
                </c:pt>
                <c:pt idx="31">
                  <c:v>3.01</c:v>
                </c:pt>
                <c:pt idx="32">
                  <c:v>4.57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точки парковки с шумом, по возрастанию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расстояние до 8-го соседа, м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Продолжаем кластеризацию. На прошлом занятии мы увидели три слабых места метода k средних: число кластеров нужно задать заранее, кластеры получаются шарами, а каждая точка, даже мусорная, обязательно попадает в кластер. Сегодня разберем два метода без этих ограничений – иерархическую кластеризацию и DBSCAN – и научимся честно оценивать кластеризацию: и когда ответов нет, и когда они есть. На картинке справа – результат практики: DBSCAN нашел шесть машин, а ложные отражения лидара отметил крестиками как шум.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Задайте вопрос классу. Та же парковка, что в Б2.3, но лидар добавил 40 ложных отражений: блики от стекол, капли дождя, выхлоп. Белые точки на картинке – это мусор. Метод k средних обязан приписать каждую точку какой-то машине, и машины «раздуваются»: планировщик движения будет объезжать несуществующие края. Нужен метод, который умеет сказать «эта точка ни к чему не относится». Это DBSCAN, третий раздел занятия. Но сначала научимся оценивать кластеризацию, иначе не сможем сравнить методы.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01. Две меры качества кластеризации: силуэт, которому не нужны ответы, и скорректированный индекс Рэнда, который сравнивает кластеры с известными ответами.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Коэффициент силуэта отвечает на вопрос: насколько точка ближе к своим, чем к чужим. Для каждой точки считаем a – среднее расстояние до остальных точек своего кластера, и b – среднее расстояние до точек ближайшего чужого кластера. Силуэт точки – b минус a, деленное на большее из них; он от минус 1 до 1. Посчитайте на доске три точки на прямой: 0 и 1 в одном кластере, 5 в другом. У точки 0 силуэт 0,8, у точки 1 – 0,75: она ближе к чужому кластеру. Точка 5 одна в кластере, ее силуэт принимаем равным нулю. Силуэт кластеризации – среднее по всем точкам. Задание Г1.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польза силуэта – выбор числа кластеров. В отличие от инерции, он не растет сам по себе с ростом k: лишние кластеры режут плотные группы, и точки оказываются близко к чужим. На парковке максимум силуэта при k = 6 – 0,767, ровно шесть объектов. А на Wine, где «локоть» в Б2.3 был почти не виден, силуэт дает явный максимум при k = 3: три сорта. Обратите внимание: значения силуэта на разных данных не сравнивают, 0,285 на Wine не значит «плохо» – сорта просто ближе друг к другу, чем машины на парковке.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правильные ответы известны, используют внешние меры. Скорректированный индекс Рэнда смотрит на все пары объектов. Пара согласована, если и кластеризация, и ответы кладут ее вместе или обе разделяют. Доля согласованных пар – индекс Рэнда. Проблема в том, что даже случайное разбиение дает заметное согласие, поэтому из индекса вычитают ожидаемое при случайности значение. Результат: 1 – полное совпадение, причем номера кластеров не важны; около нуля – совпадение не лучше случайного. На Wine случайное разбиение дает 0,008. Формула через таблицу сопряженности – в ноутбуке, задание Г2.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мы отказываемся от чистоты из Б2.3? Посмотрите на график для Wine. Чистота при k = 4 даже выше, чем при k = 3, и при любом k до 10 держится около 0,95: мелкие кластеры почти всегда однородны. При k = 178, когда каждое вино – отдельный кластер, чистота равна единице. Индекс Рэнда, наоборот, наказывает дробление: пары вин одного сорта оказываются в разных кластерах, это несогласие. Максимум ARI – 0,897 при k = 3, к k = 10 он падает до 0,375. Наш ARI и силуэт совпали со sklearn до шестого знака.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02. Иерархическая кластеризация: строим не одно разбиение, а целое дерево слияний, из которого можно получить любое число кластеров.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Алгоритм очень простой. Сначала каждая точка – отдельный кластер. На каждом шаге находим два ближайших кластера и сливаем их. Повторяем, пока не останется один кластер. Если записать все слияния и их расстояния, получится дендрограмма – дерево справа. Пять точек на прямой: 0, 1, 3, 7, 8. Сначала сливаются пары 0–1 и 7–8 на высоте 1, затем к паре 0–1 присоединяется 3 на высоте 2, и последнее слияние – на высоте 4. Скачок высоты с 2 до 4 показывает, что естественно два кластера: 0, 1, 3 и 7, 8. Задание Г3.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вопрос иерархической кластеризации – как измерить расстояние между кластерами из нескольких точек. Одиночная связь – по ближайшим точкам, полная – по самым далеким, средняя – среднее по всем парам. Пересчитывать все пары после слияния не нужно: для одиночной связи берем минимум из двух расстояний, для полной – максимум, для средней – среднее с весами по размерам кластеров. В последнем столбце – высоты слияний для наших пяти точек. Есть еще связь Уорда: прирост инерции при слиянии, она похожа на k средних и используется в sklearn по умолчанию. Цена метода – порядка n в кубе операций: для 100 точек мгновенно, для 100 000 – уже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Проверим способы связи на «полумесяцах», где k средних ошибался. Одиночная связь разделила их без единой ошибки: ARI 1,000. Она объединяет кластеры по ближайшим точкам и «ползет» вдоль изгиба полумесяца, потому что соседние точки внутри него близко. Полная и средняя связь смотрят на далекие точки, не дают кластеру вытягиваться и режут полумесяцы поперек: 0,379 и 0,457. Но у одиночной связи есть слабость – эффект цепочки: несколько случайных точек между полумесяцами образуют мостик, и она склеит их в один кластер. Это задание повышенной сложности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Дендрограмма одиночной связи для полумесяцев. Все слияния внутри полумесяцев происходят на маленьких высотах, а последнее – на высоте 0,317: это расстояние между ближайшими точками двух полумесяцев. Горизонтальный разрез ниже этого скачка дает два кластера. Удобство иерархической кластеризации в том, что число кластеров выбирают после построения дерева, глядя на скачки. Наши высоты слияний совпали с функцией linkage из scipy с точностью до 15-го знака.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03. DBSCAN – кластеризация по плотности. Кластер здесь – это плотная область точек, а одинокие точки в редких местах – шум.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DBSCAN два гиперпараметра: радиус eps и минимальное число точек min_samples. Окрестность точки – все точки на расстоянии не больше eps, включая ее саму. Точка основная, если в ее окрестности не меньше min_samples точек: она внутри плотной области. Пограничная – сама не основная, но лежит рядом с основной: край кластера. Шум – ни то ни другое, метка минус 1. Разберите пример на прямой с eps = 1 и min_samples = 3. Точки 1 и 2 основные, 0 и 3 пограничные, у точки 6 рядом никого – шум. Справа второй кластер из 10, 11, 12. Спросите: что будет при min_samples = 4? Все станут шумом.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Алгоритм обходит плотные области. Берем непросмотренную точку. Если она не основная, пока считаем ее шумом. Если основная – заводим новый кластер, кладем ее соседей в очередь и обходим очередь: шумовую точку переводим в кластер как пограничную, новую точку помечаем, и если она основная, добавляем в очередь и ее соседей. Через пограничную точку цепочку не продолжают, иначе кластер «перетекал» бы через редкие места в соседние скопления. Число кластеров получается само. Задание Г5.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Возвращаемся к полумесяцам. DBSCAN с eps = 0,25 и min_samples = 5 разделил их без ошибок: ARI 1,000 против 0,246 у k средних. Наши метки полностью совпали с DBSCAN из sklearn. А теперь парадокс: силуэт правильного разбиения DBSCAN 0,338 – меньше, чем у неверного разбиения k средних, 0,482. Точка на конце полумесяца в среднем ближе к чужому полумесяцу, чем к другому концу своего. Вывод: силуэт, как и инерция, предполагает компактные кластеры-шары, и для кластеров сложной формы слепо доверять ему нельзя. Задание Г6.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выбрать eps? Для каждой точки найдем расстояние до ее восьмого ближайшего соседа и отсортируем. У точек внутри объектов это расстояние маленькое – меньше метра, у одиноких ложных отражений – большое. На графике «локоть» около 1 метра: это и берем как eps. Если взять радиус слишком маленьким, плотные области рвутся: на полумесяцах при eps = 0,15 получается 7 кластеров и 16 шумовых точек. Слишком большой радиус склеивает соседние объекты. Задание Г7.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на вопрос со второго слайда. DBSCAN с eps = 1 м и min_samples = 8 нашел шесть машин и отметил шумом 36 точек: 32 из 40 ложных отражений и 4 крайние точки настоящих машин. Восемь отражений не найдены: они упали прямо внутрь машин, и по положению их не отличить. Индекс Рэнда 0,920, а у k средних 0,809: он приписал все 40 отражений машинам. Для беспилотника это важно: лишние точки «раздувают» машину, и планировщик движения объезжает несуществующее препятствие.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Сведем три метода в таблицу. k средних быстрый, но число кластеров задается заранее, кластеры – шары, шум попадает в кластеры. Агломеративная кластеризация позволяет выбрать число кластеров по дендрограмме, форма зависит от способа связи, но работает медленно. DBSCAN сам находит число кластеров, кластеры любой формы и отмечает шум, но использует один радиус для всех кластеров и плохо разделяет скопления разной плотности. Всем трем методам нужно масштабирование признаков. Универсального метода нет: выбор зависит от данных и задачи.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сильных учеников – поиск аномалий. Журнал поездки: скорость по спутниковой навигации, скорость по датчикам колес и ускорение в 400 моментов времени. В 12 моментов один из датчиков сбоит. Метод не знает, что такое сбой, но нормальные показания образуют плотное облако, а сбои выпадают из него и становятся шумом DBSCAN. При eps = 0,6 найдено 11 сбоев из 12 при 6 ложных тревогах. Так в беспилотниках ищут неисправности датчиков. Решение – в ноутбуке, задание повышенной сложности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04. Переходим к практике: обе меры качества и оба метода пишутся с нуля, k средних берем готовым из Б2.3.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Семь заданий идут в порядке занятия. Темным выделены главные: Г3 – агломеративная кластеризация и Г5 – DBSCAN. Каждая функция сверяется с библиотекой: силуэт и индекс Рэнда со sklearn, высоты слияний со scipy, DBSCAN со sklearn. После каждой функции – строка «ожидается», числа совпадают со слайдами.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Попросите 2–3 учеников ответить без слайдов: чем силуэт отличается от индекса Рэнда и когда какой можно использовать; почему чистота плохо подходит для выбора числа кластеров; как работает агломеративная кластеризация и чем отличаются одиночная и полная связь; что такое основная, пограничная и шумовая точка в DBSCAN и как выбрать eps. Если в ответах есть слова «пары», «дендрограмма», «плотность» и «шум» – тема усвоена. Домашнее задание: закончить практическую работу; сильным – сбои датчиков, эффект цепочки, связь Уорда. Следующее занятие – снижение размерности методом главных компонент.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«ИСКУССТВЕННЫЙ ИНТЕЛЛЕКТ» · 9 КЛАСС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Иерархическая кластеризация и DBSCAN: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кластеры любой формы и честная оценка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3611880"/>
            <a:ext cx="457200" cy="402336"/>
          </a:xfrm>
          <a:prstGeom prst="hexagon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611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школа «УникУм», КузГТУ им. Т. Ф. Горбачева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0" y="960120"/>
            <a:ext cx="411480" cy="365760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754880" y="960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15087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«На парковке шесть машин и 40 ложных отражений лидара. Как отличить объект от мусора?»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28346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Белые точки – ложные отражения: блики, капли дождя, выхлоп. Метод k средних обязан приписать каждую точку какому-то объекту и «раздует» машины.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 кластеризации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Силуэт – без ответов, скорректированный индекс Рэнда – с ответами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Иерархическая кластеризация, DBSCAN, оценка качества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ВНУТРЕННЯЯ МЕРА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Коэффициент силуэта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754880" cy="146304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СИЛУЭТ ТОЧКИ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s(i) = (b − a) / max(a, b)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1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– среднее расстояние до своих, b – до ближайшего чужого кластера; от −1 до 1, мера – среднее по точкам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4754880" cy="14173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2834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Считаем вместе: 0, 1 – кластер 0; 5 – кластер 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004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точка 0: a = 1, b = 5, s = 4 / 5 = 0,8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точка 1: a = 1, b = 4, s = 3 / 4 = 0,75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точка 5 одна в кластере: s = 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0" y="1097280"/>
            <a:ext cx="320040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669280" y="1188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около 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близко к своим и далеко от чужих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2148840"/>
            <a:ext cx="320040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669280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около 0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на границе кластеров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3200400"/>
            <a:ext cx="320040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66928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меньше 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скорее всего, не в своем кластере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Иерархическая кластеризация, DBSCAN, оценка качества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ЧИСЛА КЛАСТЕРОВ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Силуэт отвечает, где «локоть» молчал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97280"/>
            <a:ext cx="265176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217920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парковка: k = 6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наибольший силуэт 0,767 – шесть объектов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035040" y="2148840"/>
            <a:ext cx="265176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21792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Wine: k = 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силуэт 0,285 – больше, чем при 2 и 4 кластерах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3200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Б2.3 инерция на Wine убывала плавно, и «локоть» не был виден. Силуэт дает явный максимум.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Иерархическая кластеризация, DBSCAN, оценка качества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ВНЕШНЯЯ МЕРА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Скорректированный индекс Рэнда (ARI)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Смотрим на все пары объектов: пара согласована, если оба разбиения кладут ее вместе или оба разделяют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кластеры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ответы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вместе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вместе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63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согласие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врозь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врозь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63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согласие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вместе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врозь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86F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расхождение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46120"/>
            <a:ext cx="4937760" cy="9601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40080" y="331012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согласованных пар – индекс Рэнда. Даже случайное разбиение дает заметное согласие, поэтому из индекса вычитают ожидаемое при случайности: это и есть «скорректированный».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669280" y="1097280"/>
            <a:ext cx="301752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85216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 = 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разбиения совпадают; номера кластеров не важны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2148840"/>
            <a:ext cx="301752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85216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 ≈ 0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случайное разбиение: 0,008 на Wine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3246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правильные ответы. Без разметки остаются внутренние меры вроде силуэта.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Иерархическая кластеризация, DBSCAN, оценка качества</a:t>
            </a:r>
            <a:endParaRPr lang="en-US" sz="7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МЕР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Чистота обманывает, индекс Рэнда – нет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097280"/>
            <a:ext cx="256032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30936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3: 0,897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наибольший ARI – три сорта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126480" y="2148840"/>
            <a:ext cx="256032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0936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10: 0,375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чистота все еще 0,949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32004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Мелкие кластеры почти всегда однородны, поэтому чистота не наказывает дробление. При k = 178 она равна 1.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Иерархическая кластеризация, DBSCAN, оценка качества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Иерархическая кластеризация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Слияния снизу вверх, дендрограмма и способы связи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Иерархическая кластеризация, DBSCAN, оценка качества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АГЛОМЕРАТИВНАЯ КЛАСТЕРИЗАЦИЯ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Слияния снизу вверх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1247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Каждая точка – кластер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кластеров по одной точке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84048" cy="33832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993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Слить ближайшие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пару кластеров с наименьшим расстоянием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8036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862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Повторять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не останется один кластер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06240" y="3977640"/>
            <a:ext cx="4480560" cy="0"/>
          </a:xfrm>
          <a:prstGeom prst="line">
            <a:avLst/>
          </a:prstGeom>
          <a:noFill/>
          <a:ln w="12700">
            <a:solidFill>
              <a:srgbClr val="969C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5112" y="3913632"/>
            <a:ext cx="128016" cy="128016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06240" y="4050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48022" y="3913632"/>
            <a:ext cx="128016" cy="128016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29150" y="4050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93842" y="3913632"/>
            <a:ext cx="128016" cy="128016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74970" y="4050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85482" y="3913632"/>
            <a:ext cx="128016" cy="128016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66610" y="4050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08392" y="3913632"/>
            <a:ext cx="128016" cy="128016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0" y="4050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89120" y="3291840"/>
            <a:ext cx="0" cy="68580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12030" y="3291840"/>
            <a:ext cx="0" cy="68580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0" y="3291840"/>
            <a:ext cx="422910" cy="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49490" y="3291840"/>
            <a:ext cx="0" cy="68580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0" y="3291840"/>
            <a:ext cx="0" cy="68580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49490" y="3291840"/>
            <a:ext cx="422910" cy="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00575" y="2606040"/>
            <a:ext cx="0" cy="68580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57850" y="2606040"/>
            <a:ext cx="0" cy="137160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00575" y="2606040"/>
            <a:ext cx="1057275" cy="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9213" y="1234440"/>
            <a:ext cx="0" cy="1371600"/>
          </a:xfrm>
          <a:prstGeom prst="line">
            <a:avLst/>
          </a:prstGeom>
          <a:noFill/>
          <a:ln w="25400">
            <a:solidFill>
              <a:srgbClr val="4C9B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60945" y="1234440"/>
            <a:ext cx="0" cy="2057400"/>
          </a:xfrm>
          <a:prstGeom prst="line">
            <a:avLst/>
          </a:prstGeom>
          <a:noFill/>
          <a:ln w="25400">
            <a:solidFill>
              <a:srgbClr val="4C9B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29213" y="1234440"/>
            <a:ext cx="2431733" cy="0"/>
          </a:xfrm>
          <a:prstGeom prst="line">
            <a:avLst/>
          </a:prstGeom>
          <a:noFill/>
          <a:ln w="25400">
            <a:solidFill>
              <a:srgbClr val="4C9B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955280" y="31821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высота 1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7955280" y="24963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высота 2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7955280" y="11247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высота 4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Дендрограмма: высота соединения – расстояние между кластерами при слиянии. Большой скачок (2 → 4) говорит: естественно два кластера.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Иерархическая кластеризация, DBSCAN, оценка качества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СПОСОБЫ СВЯЗИ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измерить расстояние между кластерами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301752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способ связи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расстояние между A и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после слияния A и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точки 0, 1, 3, 7,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одиночная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ближайшие точки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min(d(A,C), d(B,C))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1; 1; 2;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самые далекие точки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max(d(A,C), d(B,C))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1; 1; 3;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средняя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среднее по всем парам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(nA·d(A,C) + nB·d(B,C)) / (nA + nB)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1; 1; 2,5; 6,17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063240"/>
            <a:ext cx="3977640" cy="109728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31546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Связь Уорда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5661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прирост инерции при слиянии: похожа на k средних; способ по умолчанию в sklearn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709160" y="3063240"/>
            <a:ext cx="3977640" cy="10972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892040" y="31546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Цена: n³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35661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каждом из n − 1 шагов – поиск ближайшей пары; для 100 точек мгновенно, для 100 000 – нет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Иерархическая кластеризация, DBSCAN, оценка качества</a:t>
            </a:r>
            <a:endParaRPr lang="en-US" sz="7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СПОСОБЫ СВЯЗИ НА ПРАКТИКЕ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«Полумесяцы»: кто справится?</a:t>
            </a:r>
            <a:endParaRPr lang="en-US" sz="2400" dirty="0"/>
          </a:p>
        </p:txBody>
      </p:sp>
      <p:pic>
        <p:nvPicPr>
          <p:cNvPr id="4" name="Image 0" descr="img/lin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21396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200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на 100 точках «полумесяцев», два кластера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3520440"/>
            <a:ext cx="3977640" cy="8686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40080" y="36118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одиночная: «ползет» по цепочке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0233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соседние точки каждого полумесяца близко – кластер растет вдоль изгиба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3520440"/>
            <a:ext cx="3977640" cy="86868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892040" y="36118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эффект цепочки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40233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случайных точек между полумесяцами – и одиночная связь склеит их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Иерархическая кластеризация, DBSCAN, оценка качества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ДЕНДРОГРАММА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Число кластеров – после построения дерева</a:t>
            </a:r>
            <a:endParaRPr lang="en-US" sz="2400" dirty="0"/>
          </a:p>
        </p:txBody>
      </p:sp>
      <p:pic>
        <p:nvPicPr>
          <p:cNvPr id="4" name="Image 0" descr="img/dend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394960" cy="2514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097280"/>
            <a:ext cx="256032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30936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скачок до 0,317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последнее слияние – между полумесяцами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126480" y="2148840"/>
            <a:ext cx="256032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0936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разрез = k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горизонтальная линия задает число кластеров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 высоты слияний совпали с функцией linkage из scipy до 15-го знака.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Иерархическая кластеризация, DBSCAN, оценка качества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Кластеры как плотные области, шум как отдельный ответ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Иерархическая кластеризация, DBSCAN, оценка качества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Основные, пограничные и шумовые точки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= 1, min_samples = 3: точка основная, если в ее окрестности радиуса 1 не меньше 3 точек (считая ее саму)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8046720" cy="0"/>
          </a:xfrm>
          <a:prstGeom prst="line">
            <a:avLst/>
          </a:prstGeom>
          <a:noFill/>
          <a:ln w="12700">
            <a:solidFill>
              <a:srgbClr val="969C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11680"/>
            <a:ext cx="274320" cy="27432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F63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34440" y="2011680"/>
            <a:ext cx="274320" cy="274320"/>
          </a:xfrm>
          <a:prstGeom prst="ellipse">
            <a:avLst/>
          </a:prstGeom>
          <a:solidFill>
            <a:srgbClr val="4C9BFF"/>
          </a:solidFill>
          <a:ln w="12700">
            <a:solidFill>
              <a:srgbClr val="1F63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88720" y="23774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74520" y="2011680"/>
            <a:ext cx="274320" cy="274320"/>
          </a:xfrm>
          <a:prstGeom prst="ellipse">
            <a:avLst/>
          </a:prstGeom>
          <a:solidFill>
            <a:srgbClr val="4C9BFF"/>
          </a:solidFill>
          <a:ln w="12700">
            <a:solidFill>
              <a:srgbClr val="1F63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28800" y="23774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2011680"/>
            <a:ext cx="274320" cy="27432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F63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68880" y="23774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193852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6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23774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95160" y="2011680"/>
            <a:ext cx="274320" cy="27432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F63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23774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35240" y="2011680"/>
            <a:ext cx="274320" cy="274320"/>
          </a:xfrm>
          <a:prstGeom prst="ellipse">
            <a:avLst/>
          </a:prstGeom>
          <a:solidFill>
            <a:srgbClr val="4C9BFF"/>
          </a:solidFill>
          <a:ln w="12700">
            <a:solidFill>
              <a:srgbClr val="1F63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0" y="23774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75320" y="2011680"/>
            <a:ext cx="274320" cy="27432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F63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0" y="23774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1645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 0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1645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 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2606040" cy="11887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0080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основная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383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окрестности не меньше min_samples точек: внутри плотной области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64408" y="2880360"/>
            <a:ext cx="2606040" cy="11887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3447288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пограничная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447288" y="3383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 не основная, но рядом с основной: край кластера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71616" y="2880360"/>
            <a:ext cx="26060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254496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шум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254496" y="3383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то ни другое: метка −1, ни к какому кластеру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Иерархическая кластеризация, DBSCAN, оценка качества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DBSCAN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Обход плотной области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1247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Взять непросмотренную точку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основная – пока шум (−1)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993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Основная – новый кластер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всех соседей – в очередь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84048" cy="33832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8036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862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Обойти очередь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 → пограничная; основная → ее соседи в очередь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06240" y="1097280"/>
            <a:ext cx="4480560" cy="29260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12070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Г5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146304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pos &lt; len(queue):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= queue[pos]; pos +=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labels[j] == -1: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labels[j] = cluster_id   # пограничная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labels[j] is not None: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labels[j] = cluster_id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len(neighbors[j]) &gt;= min_samples: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queue.extend(neighbors[j])  # основная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кластеров получается само: сколько найдено отдельных плотных областей.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Иерархическая кластеризация, DBSCAN, оценка качества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ПРОТИВ K СРЕДНИХ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«Полумесяцы» разделены без ошибок</a:t>
            </a:r>
            <a:endParaRPr lang="en-US" sz="2400" dirty="0"/>
          </a:p>
        </p:txBody>
      </p:sp>
      <p:pic>
        <p:nvPicPr>
          <p:cNvPr id="4" name="Image 0" descr="img/moon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669280" cy="2057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154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точек, DBSCAN: eps = 0,25, min_samples = 5. Совпадение с DBSCAN из sklearn – полное.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217920" y="1097280"/>
            <a:ext cx="246888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400800" y="1188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 1,000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DBSCAN; у k средних 0,246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17920" y="2148840"/>
            <a:ext cx="246888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40080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силуэт 0,338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DBSCAN; у неверного k средних 0,482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611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Парадокс: правильное разбиение получило меньший силуэт. Силуэт, как и инерция, «любит» компактные кластеры-шары.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Иерархическая кластеризация, DBSCAN, оценка качества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РАДИУСА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График k-расстояний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97280"/>
            <a:ext cx="265176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217920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eps ≈ 1 м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«локтя»: дальше расстояния резко растут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035040" y="2148840"/>
            <a:ext cx="265176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21792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слишком мало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«полумесяцы» при eps = 0,15: 7 кластеров и 16 шумовых точек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3200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 – точки внутри объектов, справа – одинокие ложные отражения.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Иерархическая кластеризация, DBSCAN, оценка качества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ЛОЖНЫЕ ОТРАЖЕНИЯ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 или мусор?</a:t>
            </a:r>
            <a:endParaRPr lang="en-US" sz="2400" dirty="0"/>
          </a:p>
        </p:txBody>
      </p:sp>
      <p:pic>
        <p:nvPicPr>
          <p:cNvPr id="4" name="Image 0" descr="img/noisy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669280" cy="22677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097280"/>
            <a:ext cx="246888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0" y="1188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из 40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ложных отражений DBSCAN отметил шумом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217920" y="2148840"/>
            <a:ext cx="246888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 0,920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k средних 0,809: все 40 приписаны машинам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отражений упали прямо в объекты – их по положению не отличить. 4 крайние точки машин ушли в шум.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Иерархическая кластеризация, DBSCAN, оценка качества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Какой метод когда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9456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средних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агломеративная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число кластеров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задать заранее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выбрать по дендрограмме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находится само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 кластеров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шары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зависит от связи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любая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шум и выбросы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кластерах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кластерах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метка −1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гиперпараметры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связь, k или высота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eps, min_samples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скорость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быстро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медленно: n³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DBSCAN один радиус для всех кластеров: скопления разной плотности он разделяет плохо. Все три метода требуют масштабировать признаки.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Иерархическая кластеризация, DBSCAN, оценка качества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ПОВЫШЕННАЯ СЛОЖНОСТЬ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Сбои датчиков как шум DBSCAN</a:t>
            </a:r>
            <a:endParaRPr lang="en-US" sz="2400" dirty="0"/>
          </a:p>
        </p:txBody>
      </p:sp>
      <p:pic>
        <p:nvPicPr>
          <p:cNvPr id="4" name="Image 0" descr="img/anoma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2194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246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поездки: скорость по навигации и по колесам, ускорение; темные линии – найденные сбои, светлые – ложные тревоги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57200" y="3566160"/>
            <a:ext cx="2651760" cy="82296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4008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из 12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069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сбоев найдено при eps = 0,6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46120" y="3566160"/>
            <a:ext cx="2651760" cy="82296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42900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ложных тревог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4069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400 моментов времени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035040" y="3566160"/>
            <a:ext cx="2651760" cy="82296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21792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разметки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4069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не знал, что такое сбой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Иерархическая кластеризация, DBSCAN, оценка качества</a:t>
            </a:r>
            <a:endParaRPr lang="en-US" sz="7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оценка, иерархия и DBSCAN своими руками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 заданий: от силуэта до ложных отражений лидара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Иерархическая кластеризация, DBSCAN, оценка качества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ПРАКТИКИ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 заданий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65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8016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8016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710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Силуэт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silhouette_score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65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28016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28016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Г2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12710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Рэнда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adjusted_rand_index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1965960" cy="105156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280160"/>
            <a:ext cx="384048" cy="33832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28016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12710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Иерархия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agglomerative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766560" y="1143000"/>
            <a:ext cx="1965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28016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128016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Г4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12710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Способы связи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· complete · average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2377440"/>
            <a:ext cx="1965960" cy="105156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2514600"/>
            <a:ext cx="384048" cy="33832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251460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Г5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25054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dbscan · point_types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560320" y="2377440"/>
            <a:ext cx="1965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97480" y="251460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97480" y="251460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Г6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3154680" y="25054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Полумесяцы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269748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DBSCAN против k средних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63440" y="2377440"/>
            <a:ext cx="1965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51460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00600" y="251460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Г7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5257800" y="25054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Ложные отражения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80060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k_distances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766560" y="2377440"/>
            <a:ext cx="1965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03720" y="2514600"/>
            <a:ext cx="384048" cy="338328"/>
          </a:xfrm>
          <a:prstGeom prst="hexagon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03720" y="251460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7360920" y="25054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Повышенная сложность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90372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сбои датчиков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k средних – готовый из Б2.3. Сверка: силуэт и ARI со sklearn, высоты слияний со scipy, DBSCAN со sklearn.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Иерархическая кластеризация, DBSCAN, оценка качества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ЗАНЯТИЯ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остаться в голове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Силуэт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ответов; выбирает k, но любит шары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Индекс Рэнда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ответами; не растет от дробления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212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Иерархия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606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слияния снизу вверх, дендрограмма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212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Способы связи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606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одиночная – цепочки, полная – компактность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264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657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плотные области, k не нужно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97180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264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Шум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3657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метка −1: объект или мусор</a:t>
            </a:r>
            <a:endParaRPr lang="en-US" sz="900" dirty="0"/>
          </a:p>
        </p:txBody>
      </p:sp>
      <p:pic>
        <p:nvPicPr>
          <p:cNvPr id="22" name="Image 0" descr="img/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868680"/>
            <a:ext cx="2926080" cy="323697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Иерархическая кластеризация, DBSCAN, оценка качества</a:t>
            </a:r>
            <a:endParaRPr lang="en-US" sz="7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Иерархическая кластеризация и DBSCAN</dc:title>
  <dc:subject>PptxGenJS Presentation</dc:subject>
  <dc:creator>PptxGenJS</dc:creator>
  <cp:lastModifiedBy>PptxGenJS</cp:lastModifiedBy>
  <cp:revision>1</cp:revision>
  <dcterms:created xsi:type="dcterms:W3CDTF">2026-10-01T05:42:20Z</dcterms:created>
  <dcterms:modified xsi:type="dcterms:W3CDTF">2026-10-01T05:42:20Z</dcterms:modified>
</cp:coreProperties>
</file>